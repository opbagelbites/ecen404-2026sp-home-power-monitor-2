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KY5g4mwG1z9Q6fHdytwp5x+/f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3B8514-4903-4384-8814-0E645D673527}">
  <a:tblStyle styleId="{363B8514-4903-4384-8814-0E645D6735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9EC7759-AFC6-4E69-852F-D732A555ABD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05a661ea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d05a661ea7_2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5a661ea7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g3d05a661ea7_7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5a661ea7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92" name="Google Shape;92;g3d05a661ea7_2_5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05a661ea7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g3d05a661ea7_2_10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5a661ea7_2_1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05a661ea7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05a661e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g3d05a661ea7_1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5a661ea7_1_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05a661ea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5a661e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8" name="Google Shape;128;g3d05a661ea7_0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5a661ea7_0_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05a661e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5a661ea7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g3d05a661ea7_5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05a661ea7_5_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05a661ea7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05a661ea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8" name="Google Shape;158;g3d05a661ea7_4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05a661ea7_4_5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d05a661ea7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874314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1707725"/>
            <a:ext cx="8229600" cy="3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95122"/>
            <a:ext cx="2036554" cy="343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ctrTitle"/>
          </p:nvPr>
        </p:nvSpPr>
        <p:spPr>
          <a:xfrm>
            <a:off x="3969582" y="1775354"/>
            <a:ext cx="4488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subTitle"/>
          </p:nvPr>
        </p:nvSpPr>
        <p:spPr>
          <a:xfrm>
            <a:off x="3124200" y="3238500"/>
            <a:ext cx="53340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646370"/>
            <a:ext cx="40386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646370"/>
            <a:ext cx="40386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874314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417208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889140"/>
            <a:ext cx="30084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894767"/>
            <a:ext cx="51117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503208"/>
            <a:ext cx="30084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997025"/>
            <a:ext cx="25737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997025"/>
            <a:ext cx="5486400" cy="40419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473369"/>
            <a:ext cx="2573700" cy="3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333500"/>
            <a:ext cx="82296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10.png"/><Relationship Id="rId5" Type="http://schemas.openxmlformats.org/officeDocument/2006/relationships/image" Target="../media/image20.jp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MY3Vj8quS_Ba4rovI5cX5S2OlQJ05v0w/view" TargetMode="External"/><Relationship Id="rId4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19.jp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3178854"/>
            <a:ext cx="73026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30: OhmSweetHome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88948"/>
              <a:buFont typeface="Arial"/>
              <a:buNone/>
            </a:pPr>
            <a:r>
              <a:rPr lang="en-US"/>
              <a:t>Bi-Weekly Update 4</a:t>
            </a:r>
            <a:br>
              <a:rPr lang="en-US"/>
            </a:br>
            <a:r>
              <a:rPr lang="en-US" sz="2232"/>
              <a:t>Kim</a:t>
            </a:r>
            <a:endParaRPr sz="2232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9147"/>
              <a:buFont typeface="Arial"/>
              <a:buNone/>
            </a:pPr>
            <a:r>
              <a:rPr lang="en-US" sz="2232"/>
              <a:t>Lawson</a:t>
            </a:r>
            <a:endParaRPr sz="2232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9147"/>
              <a:buFont typeface="Arial"/>
              <a:buNone/>
            </a:pPr>
            <a:r>
              <a:rPr lang="en-US" sz="2232"/>
              <a:t>Caiden</a:t>
            </a:r>
            <a:endParaRPr sz="2232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9147"/>
              <a:buFont typeface="Arial"/>
              <a:buNone/>
            </a:pPr>
            <a:r>
              <a:rPr lang="en-US" sz="2232"/>
              <a:t>Josh</a:t>
            </a:r>
            <a:endParaRPr sz="2232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9147"/>
              <a:buFont typeface="Arial"/>
              <a:buNone/>
            </a:pPr>
            <a:r>
              <a:rPr lang="en-US" sz="2232"/>
              <a:t>Vivek </a:t>
            </a:r>
            <a:br>
              <a:rPr lang="en-US" sz="2232"/>
            </a:br>
            <a:r>
              <a:rPr lang="en-US" sz="2232"/>
              <a:t>TA: Roman Venegas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300" cy="50928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921098"/>
            <a:ext cx="2595165" cy="438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5a661ea7_2_0"/>
          <p:cNvSpPr txBox="1"/>
          <p:nvPr>
            <p:ph type="title"/>
          </p:nvPr>
        </p:nvSpPr>
        <p:spPr>
          <a:xfrm>
            <a:off x="465065" y="874314"/>
            <a:ext cx="8229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 </a:t>
            </a:r>
            <a:endParaRPr/>
          </a:p>
        </p:txBody>
      </p:sp>
      <p:sp>
        <p:nvSpPr>
          <p:cNvPr id="66" name="Google Shape;66;g3d05a661ea7_2_0"/>
          <p:cNvSpPr txBox="1"/>
          <p:nvPr>
            <p:ph idx="1" type="body"/>
          </p:nvPr>
        </p:nvSpPr>
        <p:spPr>
          <a:xfrm>
            <a:off x="457200" y="1707729"/>
            <a:ext cx="4532100" cy="3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Problem: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Homeowners can only see their total electricity usage from utility meters, not what individual appliances are consuming.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Without device-level data, it's difficult for people to identify the main sources of energy waste and find effective ways to lower their utility bills.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Solution: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Analyzing the home's main power lines to identify the unique electrical signature of each active appliance in real-time.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Displaying a simple, device-by-device breakdown of energy consumption on a mobile app, empowering users to reduce waste and save money</a:t>
            </a:r>
            <a:endParaRPr sz="14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</p:txBody>
      </p:sp>
      <p:pic>
        <p:nvPicPr>
          <p:cNvPr id="67" name="Google Shape;67;g3d05a661ea7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5525" y="2070891"/>
            <a:ext cx="3181276" cy="2364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5a661ea7_7_0"/>
          <p:cNvSpPr txBox="1"/>
          <p:nvPr>
            <p:ph type="title"/>
          </p:nvPr>
        </p:nvSpPr>
        <p:spPr>
          <a:xfrm>
            <a:off x="457200" y="616089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Diagram </a:t>
            </a:r>
            <a:endParaRPr/>
          </a:p>
        </p:txBody>
      </p:sp>
      <p:pic>
        <p:nvPicPr>
          <p:cNvPr id="73" name="Google Shape;73;g3d05a661ea7_7_0" title="IMG_5071.jpeg"/>
          <p:cNvPicPr preferRelativeResize="0"/>
          <p:nvPr/>
        </p:nvPicPr>
        <p:blipFill rotWithShape="1">
          <a:blip r:embed="rId3">
            <a:alphaModFix/>
          </a:blip>
          <a:srcRect b="9981" l="21326" r="43096" t="49014"/>
          <a:stretch/>
        </p:blipFill>
        <p:spPr>
          <a:xfrm>
            <a:off x="326750" y="2359275"/>
            <a:ext cx="2126799" cy="2466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d05a661ea7_7_0" title="Screenshot 2026-03-16 104606.png"/>
          <p:cNvPicPr preferRelativeResize="0"/>
          <p:nvPr/>
        </p:nvPicPr>
        <p:blipFill rotWithShape="1">
          <a:blip r:embed="rId4">
            <a:alphaModFix/>
          </a:blip>
          <a:srcRect b="0" l="11970" r="33818" t="0"/>
          <a:stretch/>
        </p:blipFill>
        <p:spPr>
          <a:xfrm>
            <a:off x="2883865" y="1686450"/>
            <a:ext cx="2024735" cy="2466049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g3d05a661ea7_7_0" title="IMG_5061.jpg"/>
          <p:cNvPicPr preferRelativeResize="0"/>
          <p:nvPr/>
        </p:nvPicPr>
        <p:blipFill rotWithShape="1">
          <a:blip r:embed="rId5">
            <a:alphaModFix/>
          </a:blip>
          <a:srcRect b="20892" l="0" r="0" t="0"/>
          <a:stretch/>
        </p:blipFill>
        <p:spPr>
          <a:xfrm>
            <a:off x="3905125" y="2648725"/>
            <a:ext cx="1333751" cy="217658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g3d05a661ea7_7_0"/>
          <p:cNvSpPr txBox="1"/>
          <p:nvPr/>
        </p:nvSpPr>
        <p:spPr>
          <a:xfrm>
            <a:off x="106975" y="1286000"/>
            <a:ext cx="1670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5V -&gt; 3.3V Power Regulator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77" name="Google Shape;77;g3d05a661ea7_7_0"/>
          <p:cNvCxnSpPr/>
          <p:nvPr/>
        </p:nvCxnSpPr>
        <p:spPr>
          <a:xfrm>
            <a:off x="524525" y="1740600"/>
            <a:ext cx="417600" cy="130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g3d05a661ea7_7_0"/>
          <p:cNvSpPr txBox="1"/>
          <p:nvPr/>
        </p:nvSpPr>
        <p:spPr>
          <a:xfrm>
            <a:off x="1077950" y="1731700"/>
            <a:ext cx="1670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Voltage and Current Sensing Channels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79" name="Google Shape;79;g3d05a661ea7_7_0"/>
          <p:cNvSpPr txBox="1"/>
          <p:nvPr/>
        </p:nvSpPr>
        <p:spPr>
          <a:xfrm>
            <a:off x="0" y="4983275"/>
            <a:ext cx="1670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UART Programming Header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80" name="Google Shape;80;g3d05a661ea7_7_0"/>
          <p:cNvCxnSpPr/>
          <p:nvPr/>
        </p:nvCxnSpPr>
        <p:spPr>
          <a:xfrm flipH="1">
            <a:off x="1424825" y="2210325"/>
            <a:ext cx="104400" cy="78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g3d05a661ea7_7_0"/>
          <p:cNvCxnSpPr/>
          <p:nvPr/>
        </p:nvCxnSpPr>
        <p:spPr>
          <a:xfrm flipH="1">
            <a:off x="1777075" y="2210325"/>
            <a:ext cx="65400" cy="66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g3d05a661ea7_7_0"/>
          <p:cNvSpPr txBox="1"/>
          <p:nvPr/>
        </p:nvSpPr>
        <p:spPr>
          <a:xfrm>
            <a:off x="1670100" y="4983275"/>
            <a:ext cx="1670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MCU: ESP32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83" name="Google Shape;83;g3d05a661ea7_7_0"/>
          <p:cNvCxnSpPr/>
          <p:nvPr/>
        </p:nvCxnSpPr>
        <p:spPr>
          <a:xfrm rot="10800000">
            <a:off x="1659625" y="4245850"/>
            <a:ext cx="443700" cy="717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g3d05a661ea7_7_0"/>
          <p:cNvCxnSpPr/>
          <p:nvPr/>
        </p:nvCxnSpPr>
        <p:spPr>
          <a:xfrm flipH="1" rot="10800000">
            <a:off x="537575" y="4219575"/>
            <a:ext cx="469800" cy="75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g3d05a661ea7_7_0"/>
          <p:cNvSpPr txBox="1"/>
          <p:nvPr/>
        </p:nvSpPr>
        <p:spPr>
          <a:xfrm>
            <a:off x="3212400" y="5015625"/>
            <a:ext cx="1944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Sample Frame of data from firebase after DSP pipeline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86" name="Google Shape;86;g3d05a661ea7_7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0450" y="2875525"/>
            <a:ext cx="1944300" cy="19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05a661ea7_7_0"/>
          <p:cNvSpPr txBox="1"/>
          <p:nvPr/>
        </p:nvSpPr>
        <p:spPr>
          <a:xfrm>
            <a:off x="6772000" y="4790125"/>
            <a:ext cx="1944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App displaying live data from firebase frames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88" name="Google Shape;88;g3d05a661ea7_7_0" title="Screenshot 2026-03-16 at 10.52.50 AM.png"/>
          <p:cNvPicPr preferRelativeResize="0"/>
          <p:nvPr/>
        </p:nvPicPr>
        <p:blipFill rotWithShape="1">
          <a:blip r:embed="rId7">
            <a:alphaModFix/>
          </a:blip>
          <a:srcRect b="0" l="0" r="63481" t="24829"/>
          <a:stretch/>
        </p:blipFill>
        <p:spPr>
          <a:xfrm>
            <a:off x="5560750" y="1216427"/>
            <a:ext cx="2126800" cy="9938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d05a661ea7_7_0"/>
          <p:cNvSpPr txBox="1"/>
          <p:nvPr/>
        </p:nvSpPr>
        <p:spPr>
          <a:xfrm>
            <a:off x="5743250" y="2203800"/>
            <a:ext cx="1944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Cloud response showing appliance prediction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5a661ea7_2_51"/>
          <p:cNvSpPr txBox="1"/>
          <p:nvPr>
            <p:ph type="title"/>
          </p:nvPr>
        </p:nvSpPr>
        <p:spPr>
          <a:xfrm>
            <a:off x="457200" y="971460"/>
            <a:ext cx="8229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95" name="Google Shape;95;g3d05a661ea7_2_51"/>
          <p:cNvGraphicFramePr/>
          <p:nvPr/>
        </p:nvGraphicFramePr>
        <p:xfrm>
          <a:off x="230909" y="2322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{363B8514-4903-4384-8814-0E645D673527}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61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Subsystem Designs and Testing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(completed 1/16)</a:t>
                      </a:r>
                      <a:endParaRPr sz="12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Integration of Sensor Front End, Signal Conditioning (completed 1/23)</a:t>
                      </a:r>
                      <a:endParaRPr sz="11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PCB integration of SFE, Signal Conditioning and Embedded Systems 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(completed 2/4)</a:t>
                      </a:r>
                      <a:endParaRPr sz="11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Final Integration 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(to complete by 2/20)</a:t>
                      </a:r>
                      <a:endParaRPr sz="12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System Test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(to complete by 3/6)</a:t>
                      </a:r>
                      <a:endParaRPr sz="12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Validation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(to complete by 3/25)</a:t>
                      </a:r>
                      <a:endParaRPr sz="12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Demo and Report 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(to complete by 4/15)</a:t>
                      </a:r>
                      <a:endParaRPr sz="1100" u="none" cap="none" strike="noStrike"/>
                    </a:p>
                  </a:txBody>
                  <a:tcPr marT="38050" marB="380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5a661ea7_2_101"/>
          <p:cNvSpPr txBox="1"/>
          <p:nvPr>
            <p:ph type="title"/>
          </p:nvPr>
        </p:nvSpPr>
        <p:spPr>
          <a:xfrm>
            <a:off x="457200" y="804389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Sensor Front End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500"/>
              <a:t>Kim Peteros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00"/>
          </a:p>
        </p:txBody>
      </p:sp>
      <p:graphicFrame>
        <p:nvGraphicFramePr>
          <p:cNvPr id="101" name="Google Shape;101;g3d05a661ea7_2_101"/>
          <p:cNvGraphicFramePr/>
          <p:nvPr/>
        </p:nvGraphicFramePr>
        <p:xfrm>
          <a:off x="685800" y="1626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{99EC7759-AFC6-4E69-852F-D732A555ABD0}</a:tableStyleId>
              </a:tblPr>
              <a:tblGrid>
                <a:gridCol w="3886200"/>
                <a:gridCol w="3886200"/>
              </a:tblGrid>
              <a:tr h="5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Accomplishments since last update                          </a:t>
                      </a:r>
                      <a:r>
                        <a:rPr lang="en-US" sz="1500">
                          <a:solidFill>
                            <a:srgbClr val="C00000"/>
                          </a:solidFill>
                        </a:rPr>
                        <a:t>24 hrs </a:t>
                      </a:r>
                      <a:r>
                        <a:rPr lang="en-US" sz="1500" u="none" cap="none" strike="noStrike">
                          <a:solidFill>
                            <a:srgbClr val="C00000"/>
                          </a:solidFill>
                        </a:rPr>
                        <a:t>of effort</a:t>
                      </a:r>
                      <a:endParaRPr sz="15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Ongoing progress/problems and plans until the next presentation</a:t>
                      </a:r>
                      <a:endParaRPr sz="1500" u="none" cap="none" strike="noStrike"/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445500">
                <a:tc>
                  <a:txBody>
                    <a:bodyPr/>
                    <a:lstStyle/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Completed PCB integration.</a:t>
                      </a:r>
                      <a:endParaRPr sz="1500"/>
                    </a:p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Verified isolation between HV and logic.</a:t>
                      </a:r>
                      <a:endParaRPr sz="1500"/>
                    </a:p>
                    <a:p>
                      <a:pPr indent="0" lvl="0" marL="9144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Acquire</a:t>
                      </a:r>
                      <a:r>
                        <a:rPr lang="en-US" sz="1500"/>
                        <a:t> more data from different appliances.</a:t>
                      </a:r>
                      <a:endParaRPr sz="1500"/>
                    </a:p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Test using multiple appliances at one time through a power strip</a:t>
                      </a:r>
                      <a:endParaRPr sz="1500"/>
                    </a:p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Ensure that it can run for </a:t>
                      </a:r>
                      <a:r>
                        <a:rPr lang="en-US" sz="1500"/>
                        <a:t>at least</a:t>
                      </a:r>
                      <a:r>
                        <a:rPr lang="en-US" sz="1500"/>
                        <a:t> 4 hours.</a:t>
                      </a:r>
                      <a:endParaRPr sz="15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5a661ea7_2_133"/>
          <p:cNvSpPr txBox="1"/>
          <p:nvPr>
            <p:ph type="title"/>
          </p:nvPr>
        </p:nvSpPr>
        <p:spPr>
          <a:xfrm>
            <a:off x="457200" y="779210"/>
            <a:ext cx="8229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Sensor Front End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500"/>
              <a:t>Kim Peteros</a:t>
            </a:r>
            <a:endParaRPr sz="1500"/>
          </a:p>
        </p:txBody>
      </p:sp>
      <p:pic>
        <p:nvPicPr>
          <p:cNvPr id="107" name="Google Shape;107;g3d05a661ea7_2_133" title="IMG_508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588" y="1715750"/>
            <a:ext cx="6838832" cy="38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5a661ea7_1_0"/>
          <p:cNvSpPr txBox="1"/>
          <p:nvPr>
            <p:ph type="title"/>
          </p:nvPr>
        </p:nvSpPr>
        <p:spPr>
          <a:xfrm>
            <a:off x="457200" y="665539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Signal Conditioning 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Lawson Parr</a:t>
            </a:r>
            <a:endParaRPr/>
          </a:p>
        </p:txBody>
      </p:sp>
      <p:graphicFrame>
        <p:nvGraphicFramePr>
          <p:cNvPr id="113" name="Google Shape;113;g3d05a661ea7_1_0"/>
          <p:cNvGraphicFramePr/>
          <p:nvPr/>
        </p:nvGraphicFramePr>
        <p:xfrm>
          <a:off x="685800" y="1626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{99EC7759-AFC6-4E69-852F-D732A555ABD0}</a:tableStyleId>
              </a:tblPr>
              <a:tblGrid>
                <a:gridCol w="3886200"/>
                <a:gridCol w="3886200"/>
              </a:tblGrid>
              <a:tr h="5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Accomplishments since last update                          </a:t>
                      </a:r>
                      <a:r>
                        <a:rPr lang="en-US" sz="1500">
                          <a:solidFill>
                            <a:srgbClr val="C00000"/>
                          </a:solidFill>
                        </a:rPr>
                        <a:t>20</a:t>
                      </a:r>
                      <a:r>
                        <a:rPr lang="en-US" sz="15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5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Ongoing progress/problems and plans until the next presentation</a:t>
                      </a:r>
                      <a:endParaRPr sz="1500" u="none" cap="none" strike="noStrike"/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445500">
                <a:tc>
                  <a:txBody>
                    <a:bodyPr/>
                    <a:lstStyle/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Verified that the PCB voltage and current </a:t>
                      </a:r>
                      <a:r>
                        <a:rPr lang="en-US" sz="1500"/>
                        <a:t>channels</a:t>
                      </a:r>
                      <a:r>
                        <a:rPr lang="en-US" sz="1500"/>
                        <a:t> are functioning correctly.</a:t>
                      </a:r>
                      <a:endParaRPr sz="1500"/>
                    </a:p>
                    <a:p>
                      <a:pPr indent="-32385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●"/>
                      </a:pPr>
                      <a:r>
                        <a:rPr lang="en-US" sz="1500"/>
                        <a:t>Tested full subsystem integration using a curling iron and verified the PCB voltage and current channel outputs.</a:t>
                      </a:r>
                      <a:endParaRPr sz="15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Test</a:t>
                      </a: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 additional appliances, including a lamp, fan, and hair dryer. 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Verify detection of multiple appliances running simultaneously using a power strip.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Ensure the fully integrated system can operate continuously and accurately for at least 4 hours.</a:t>
                      </a:r>
                      <a:endParaRPr sz="15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5a661ea7_1_6"/>
          <p:cNvSpPr txBox="1"/>
          <p:nvPr>
            <p:ph type="title"/>
          </p:nvPr>
        </p:nvSpPr>
        <p:spPr>
          <a:xfrm>
            <a:off x="457200" y="739598"/>
            <a:ext cx="8229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Signal Conditioning  </a:t>
            </a:r>
            <a:br>
              <a:rPr lang="en-US"/>
            </a:br>
            <a:r>
              <a:rPr lang="en-US" sz="1720"/>
              <a:t>Lawson Parr</a:t>
            </a:r>
            <a:endParaRPr/>
          </a:p>
        </p:txBody>
      </p:sp>
      <p:pic>
        <p:nvPicPr>
          <p:cNvPr id="119" name="Google Shape;119;g3d05a661ea7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350" y="2632136"/>
            <a:ext cx="3332350" cy="190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d05a661ea7_1_6"/>
          <p:cNvPicPr preferRelativeResize="0"/>
          <p:nvPr/>
        </p:nvPicPr>
        <p:blipFill rotWithShape="1">
          <a:blip r:embed="rId4">
            <a:alphaModFix/>
          </a:blip>
          <a:srcRect b="26384" l="0" r="0" t="0"/>
          <a:stretch/>
        </p:blipFill>
        <p:spPr>
          <a:xfrm>
            <a:off x="6531375" y="2584275"/>
            <a:ext cx="2515800" cy="195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d05a661ea7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075" y="2632125"/>
            <a:ext cx="2588600" cy="190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d05a661ea7_1_6"/>
          <p:cNvSpPr txBox="1"/>
          <p:nvPr/>
        </p:nvSpPr>
        <p:spPr>
          <a:xfrm>
            <a:off x="265600" y="1851325"/>
            <a:ext cx="42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Voltage Sensing Channel (</a:t>
            </a:r>
            <a:r>
              <a:rPr b="1" lang="en-US" sz="1600">
                <a:solidFill>
                  <a:schemeClr val="dk1"/>
                </a:solidFill>
              </a:rPr>
              <a:t>curling</a:t>
            </a:r>
            <a:r>
              <a:rPr b="1" lang="en-US" sz="1600">
                <a:solidFill>
                  <a:schemeClr val="dk1"/>
                </a:solidFill>
              </a:rPr>
              <a:t> iron) :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3" name="Google Shape;123;g3d05a661ea7_1_6"/>
          <p:cNvSpPr txBox="1"/>
          <p:nvPr/>
        </p:nvSpPr>
        <p:spPr>
          <a:xfrm>
            <a:off x="498975" y="4641925"/>
            <a:ext cx="1840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Input AC Source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4" name="Google Shape;124;g3d05a661ea7_1_6"/>
          <p:cNvSpPr txBox="1"/>
          <p:nvPr/>
        </p:nvSpPr>
        <p:spPr>
          <a:xfrm>
            <a:off x="3546425" y="4585175"/>
            <a:ext cx="1840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Conditioned Waveform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5" name="Google Shape;125;g3d05a661ea7_1_6"/>
          <p:cNvSpPr txBox="1"/>
          <p:nvPr/>
        </p:nvSpPr>
        <p:spPr>
          <a:xfrm>
            <a:off x="6868875" y="4585175"/>
            <a:ext cx="1840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DC Bias Voltage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5a661ea7_0_0"/>
          <p:cNvSpPr txBox="1"/>
          <p:nvPr>
            <p:ph type="title"/>
          </p:nvPr>
        </p:nvSpPr>
        <p:spPr>
          <a:xfrm>
            <a:off x="457200" y="665539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Embedded Systems</a:t>
            </a:r>
            <a:br>
              <a:rPr lang="en-US"/>
            </a:br>
            <a:r>
              <a:rPr lang="en-US" sz="1600"/>
              <a:t>Caiden Rueben</a:t>
            </a:r>
            <a:endParaRPr/>
          </a:p>
        </p:txBody>
      </p:sp>
      <p:graphicFrame>
        <p:nvGraphicFramePr>
          <p:cNvPr id="131" name="Google Shape;131;g3d05a661ea7_0_0"/>
          <p:cNvGraphicFramePr/>
          <p:nvPr/>
        </p:nvGraphicFramePr>
        <p:xfrm>
          <a:off x="0" y="1470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{99EC7759-AFC6-4E69-852F-D732A555ABD0}</a:tableStyleId>
              </a:tblPr>
              <a:tblGrid>
                <a:gridCol w="4572000"/>
                <a:gridCol w="4572000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Accomplishments since last update                          </a:t>
                      </a:r>
                      <a:r>
                        <a:rPr lang="en-US" sz="1500">
                          <a:solidFill>
                            <a:srgbClr val="C00000"/>
                          </a:solidFill>
                        </a:rPr>
                        <a:t>24</a:t>
                      </a:r>
                      <a:r>
                        <a:rPr lang="en-US" sz="15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5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Ongoing progress/problems and plans until the next presentation</a:t>
                      </a:r>
                      <a:endParaRPr sz="1500" u="none" cap="none" strike="noStrike"/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63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700"/>
                        <a:t>Accomplishments since last review</a:t>
                      </a:r>
                      <a:endParaRPr sz="17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Powered custom PCB and verified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3.3 V rail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, successfully programmed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ESP32 firmware on hardware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Validated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2 ADC channels (voltage &amp; current)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 capturing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60 Hz AC waveforms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Implemented DSP metrics: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Vrms (~120 V), Irms, apparent power (~45 VA), and phase angle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Generated structured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JSON telemetry frames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 and verified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Firebase uploads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Ran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5–10 minute continuous tests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 generating hundreds of telemetry frames</a:t>
                      </a:r>
                      <a:endParaRPr sz="13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700"/>
                        <a:t>Calibration</a:t>
                      </a:r>
                      <a:endParaRPr sz="17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Determine accurate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voltage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current scale factors</a:t>
                      </a:r>
                      <a:endParaRPr b="1" sz="12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Validate measurements against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known loads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Power Measurements Accuracy</a:t>
                      </a:r>
                      <a:endParaRPr sz="17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Improve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phase angle stability</a:t>
                      </a:r>
                      <a:endParaRPr b="1" sz="12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Refine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real power calculation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System Validation</a:t>
                      </a:r>
                      <a:endParaRPr sz="17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Run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extended stability testing</a:t>
                      </a:r>
                      <a:endParaRPr b="1" sz="12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Verify measurement repeatability</a:t>
                      </a:r>
                      <a:endParaRPr sz="12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Demo Preparation</a:t>
                      </a:r>
                      <a:endParaRPr sz="17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Create visualizations of power data</a:t>
                      </a:r>
                      <a:endParaRPr sz="1200"/>
                    </a:p>
                    <a:p>
                      <a:pPr indent="-3048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Finalize 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demonstration setup</a:t>
                      </a:r>
                      <a:endParaRPr b="1" sz="12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5a661ea7_0_10"/>
          <p:cNvSpPr txBox="1"/>
          <p:nvPr>
            <p:ph type="title"/>
          </p:nvPr>
        </p:nvSpPr>
        <p:spPr>
          <a:xfrm>
            <a:off x="457200" y="613498"/>
            <a:ext cx="8229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Embedded Systems</a:t>
            </a:r>
            <a:br>
              <a:rPr lang="en-US"/>
            </a:br>
            <a:r>
              <a:rPr lang="en-US" sz="1600"/>
              <a:t>Caiden Rueben</a:t>
            </a:r>
            <a:endParaRPr/>
          </a:p>
        </p:txBody>
      </p:sp>
      <p:pic>
        <p:nvPicPr>
          <p:cNvPr id="137" name="Google Shape;137;g3d05a661ea7_0_10" title="IMG_5061.jpg"/>
          <p:cNvPicPr preferRelativeResize="0"/>
          <p:nvPr/>
        </p:nvPicPr>
        <p:blipFill rotWithShape="1">
          <a:blip r:embed="rId3">
            <a:alphaModFix/>
          </a:blip>
          <a:srcRect b="20892" l="0" r="0" t="0"/>
          <a:stretch/>
        </p:blipFill>
        <p:spPr>
          <a:xfrm>
            <a:off x="133100" y="1427450"/>
            <a:ext cx="2126800" cy="34707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g3d05a661ea7_0_10" title="IMG_5062.jpg"/>
          <p:cNvPicPr preferRelativeResize="0"/>
          <p:nvPr/>
        </p:nvPicPr>
        <p:blipFill rotWithShape="1">
          <a:blip r:embed="rId4">
            <a:alphaModFix/>
          </a:blip>
          <a:srcRect b="18227" l="2950" r="0" t="0"/>
          <a:stretch/>
        </p:blipFill>
        <p:spPr>
          <a:xfrm>
            <a:off x="2364300" y="1427450"/>
            <a:ext cx="2126799" cy="34707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g3d05a661ea7_0_10" title="Screenshot 2026-03-16 104606.png"/>
          <p:cNvPicPr preferRelativeResize="0"/>
          <p:nvPr/>
        </p:nvPicPr>
        <p:blipFill rotWithShape="1">
          <a:blip r:embed="rId5">
            <a:alphaModFix/>
          </a:blip>
          <a:srcRect b="0" l="11968" r="7113" t="0"/>
          <a:stretch/>
        </p:blipFill>
        <p:spPr>
          <a:xfrm>
            <a:off x="4686850" y="1427450"/>
            <a:ext cx="4253599" cy="347075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g3d05a661ea7_0_10"/>
          <p:cNvSpPr txBox="1"/>
          <p:nvPr/>
        </p:nvSpPr>
        <p:spPr>
          <a:xfrm>
            <a:off x="4903650" y="4976475"/>
            <a:ext cx="4179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Embedded DSP frame </a:t>
            </a:r>
            <a:r>
              <a:rPr b="1" i="1" lang="en-US" sz="1100">
                <a:solidFill>
                  <a:schemeClr val="dk1"/>
                </a:solidFill>
              </a:rPr>
              <a:t>Vrms ≈120 V, Irms ≈0.4 A, S ≈45 VA</a:t>
            </a:r>
            <a:r>
              <a:rPr i="1" lang="en-US" sz="1100">
                <a:solidFill>
                  <a:schemeClr val="dk1"/>
                </a:solidFill>
              </a:rPr>
              <a:t> from curling iron load test.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41" name="Google Shape;141;g3d05a661ea7_0_10"/>
          <p:cNvSpPr txBox="1"/>
          <p:nvPr/>
        </p:nvSpPr>
        <p:spPr>
          <a:xfrm>
            <a:off x="237500" y="4976475"/>
            <a:ext cx="4179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User connects to </a:t>
            </a:r>
            <a:r>
              <a:rPr b="1" i="1" lang="en-US" sz="1100">
                <a:solidFill>
                  <a:schemeClr val="dk1"/>
                </a:solidFill>
              </a:rPr>
              <a:t>HomePower-Setup AP</a:t>
            </a:r>
            <a:r>
              <a:rPr i="1" lang="en-US" sz="1100">
                <a:solidFill>
                  <a:schemeClr val="dk1"/>
                </a:solidFill>
              </a:rPr>
              <a:t> to configure network credentials.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5a661ea7_5_0"/>
          <p:cNvSpPr txBox="1"/>
          <p:nvPr>
            <p:ph type="title"/>
          </p:nvPr>
        </p:nvSpPr>
        <p:spPr>
          <a:xfrm>
            <a:off x="457200" y="665539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br>
              <a:rPr lang="en-US"/>
            </a:br>
            <a:r>
              <a:rPr lang="en-US" sz="1600"/>
              <a:t>Joshua</a:t>
            </a:r>
            <a:r>
              <a:rPr lang="en-US" sz="1600"/>
              <a:t> Le</a:t>
            </a:r>
            <a:endParaRPr/>
          </a:p>
        </p:txBody>
      </p:sp>
      <p:graphicFrame>
        <p:nvGraphicFramePr>
          <p:cNvPr id="147" name="Google Shape;147;g3d05a661ea7_5_0"/>
          <p:cNvGraphicFramePr/>
          <p:nvPr/>
        </p:nvGraphicFramePr>
        <p:xfrm>
          <a:off x="0" y="1470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{99EC7759-AFC6-4E69-852F-D732A555ABD0}</a:tableStyleId>
              </a:tblPr>
              <a:tblGrid>
                <a:gridCol w="4572000"/>
                <a:gridCol w="4572000"/>
              </a:tblGrid>
              <a:tr h="40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Accomplishments since last update                          </a:t>
                      </a:r>
                      <a:r>
                        <a:rPr lang="en-US" sz="1500">
                          <a:solidFill>
                            <a:srgbClr val="C00000"/>
                          </a:solidFill>
                        </a:rPr>
                        <a:t>20</a:t>
                      </a:r>
                      <a:r>
                        <a:rPr lang="en-US" sz="15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5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Ongoing progress/problems and plans until the next presentation</a:t>
                      </a:r>
                      <a:endParaRPr sz="1500" u="none" cap="none" strike="noStrike"/>
                    </a:p>
                  </a:txBody>
                  <a:tcPr marT="38125" marB="381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385225"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Retrained and redeployed the cloud inference API with the updated model then validated it through live API tests to confirm Cloud Run was serving the new prediction format correctly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Collected and incorporated real appliance data into the training pipeline, including converting raw Firebase frame exports into the same feature format used for model training and adding Curling Iron as a new real-data class.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Continue collecting and incorporating real appliance data so the model can be evaluated on actual outlet-level electrical signatures instead of mostly simulated or legacy PLAID-derived data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Refine model performance on in-scope appliances by retraining with the new real-data set and improving consistency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Design and 3D print a protective housing for the PCB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38125" marB="381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05a661ea7_5_5"/>
          <p:cNvSpPr txBox="1"/>
          <p:nvPr>
            <p:ph type="title"/>
          </p:nvPr>
        </p:nvSpPr>
        <p:spPr>
          <a:xfrm>
            <a:off x="457200" y="665698"/>
            <a:ext cx="8229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br>
              <a:rPr lang="en-US"/>
            </a:br>
            <a:r>
              <a:rPr lang="en-US" sz="1600"/>
              <a:t>Joshua Le</a:t>
            </a:r>
            <a:endParaRPr/>
          </a:p>
        </p:txBody>
      </p:sp>
      <p:pic>
        <p:nvPicPr>
          <p:cNvPr id="153" name="Google Shape;153;g3d05a661ea7_5_5" title="Screenshot 2026-03-16 at 10.52.50 AM.png"/>
          <p:cNvPicPr preferRelativeResize="0"/>
          <p:nvPr/>
        </p:nvPicPr>
        <p:blipFill rotWithShape="1">
          <a:blip r:embed="rId3">
            <a:alphaModFix/>
          </a:blip>
          <a:srcRect b="0" l="0" r="63481" t="24829"/>
          <a:stretch/>
        </p:blipFill>
        <p:spPr>
          <a:xfrm>
            <a:off x="226350" y="2186700"/>
            <a:ext cx="3888025" cy="181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05a661ea7_5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575" y="2391925"/>
            <a:ext cx="4711861" cy="1406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05a661ea7_5_5"/>
          <p:cNvSpPr txBox="1"/>
          <p:nvPr/>
        </p:nvSpPr>
        <p:spPr>
          <a:xfrm>
            <a:off x="4240600" y="3798450"/>
            <a:ext cx="471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model correctly identified about 89% of the actual Curling Iron test samples, and when it predicted Curling Iron, it was correct 100% of the time.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5a661ea7_4_0"/>
          <p:cNvSpPr txBox="1"/>
          <p:nvPr>
            <p:ph type="title"/>
          </p:nvPr>
        </p:nvSpPr>
        <p:spPr>
          <a:xfrm>
            <a:off x="457200" y="971460"/>
            <a:ext cx="8229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Application Development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Vivek Samuel</a:t>
            </a:r>
            <a:endParaRPr sz="2980"/>
          </a:p>
        </p:txBody>
      </p:sp>
      <p:graphicFrame>
        <p:nvGraphicFramePr>
          <p:cNvPr id="161" name="Google Shape;161;g3d05a661ea7_4_0"/>
          <p:cNvGraphicFramePr/>
          <p:nvPr/>
        </p:nvGraphicFramePr>
        <p:xfrm>
          <a:off x="685800" y="1774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{363B8514-4903-4384-8814-0E645D673527}</a:tableStyleId>
              </a:tblPr>
              <a:tblGrid>
                <a:gridCol w="3886200"/>
                <a:gridCol w="3886200"/>
              </a:tblGrid>
              <a:tr h="88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Accomplishments since last update  </a:t>
                      </a:r>
                      <a:r>
                        <a:rPr lang="en-US" sz="1500" u="none" cap="none" strike="noStrike">
                          <a:solidFill>
                            <a:srgbClr val="C20000"/>
                          </a:solidFill>
                        </a:rPr>
                        <a:t>~</a:t>
                      </a:r>
                      <a:r>
                        <a:rPr lang="en-US" sz="1500">
                          <a:solidFill>
                            <a:srgbClr val="C20000"/>
                          </a:solidFill>
                        </a:rPr>
                        <a:t>18</a:t>
                      </a:r>
                      <a:r>
                        <a:rPr lang="en-US" sz="150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5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8150" marB="381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Ongoing progress/problems and plans until the next presentation</a:t>
                      </a:r>
                      <a:endParaRPr sz="1500" u="none" cap="none" strike="noStrike"/>
                    </a:p>
                  </a:txBody>
                  <a:tcPr marT="38150" marB="381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867900">
                <a:tc>
                  <a:txBody>
                    <a:bodyPr/>
                    <a:lstStyle/>
                    <a:p>
                      <a:pPr indent="-304800" lvl="0" marL="508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Successfully completed the app's architectural migration to the live Firebase Realtime Database, enabling real-time parsing of MCU telemetry and nested Machine Learning predictions.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508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Developed robust client-side data aggregation logic that automatically handles unsynced MCU timestamps and dynamically scales historical power usage charts based on the active load.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50" marB="381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0" marL="508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Problem/Progress: Discovered unexpected data variance in the Real Power sensor stream during live integration; successfully designed a hot-swappable data model in the app to pivot to Apparent Power (VA), ensuring a stable and reliable end-to-end demonstration today.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508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Conduct full end-to-end system testing with a wider variety of physical appliance loads (e.g., resistive, inductive) to validate the ML identification accuracy and app UI under multi-load stress conditions.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8150" marB="381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g3d05a661ea7_4_0"/>
          <p:cNvSpPr txBox="1"/>
          <p:nvPr/>
        </p:nvSpPr>
        <p:spPr>
          <a:xfrm>
            <a:off x="219720" y="5715009"/>
            <a:ext cx="840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05a661ea7_4_51"/>
          <p:cNvSpPr txBox="1"/>
          <p:nvPr>
            <p:ph type="title"/>
          </p:nvPr>
        </p:nvSpPr>
        <p:spPr>
          <a:xfrm>
            <a:off x="457200" y="971460"/>
            <a:ext cx="8229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Application Development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Vivek Samuel</a:t>
            </a:r>
            <a:endParaRPr sz="2980"/>
          </a:p>
        </p:txBody>
      </p:sp>
      <p:pic>
        <p:nvPicPr>
          <p:cNvPr id="168" name="Google Shape;168;g3d05a661ea7_4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8160"/>
            <a:ext cx="2783062" cy="3150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d05a661ea7_4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1352" y="2047375"/>
            <a:ext cx="2574025" cy="297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d05a661ea7_4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3725" y="2391113"/>
            <a:ext cx="2710550" cy="22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457200" y="874314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(45 sec)</a:t>
            </a:r>
            <a:endParaRPr/>
          </a:p>
        </p:txBody>
      </p:sp>
      <p:pic>
        <p:nvPicPr>
          <p:cNvPr id="176" name="Google Shape;17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6064"/>
            <a:ext cx="8839204" cy="1553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457200" y="874314"/>
            <a:ext cx="8229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Validation Plan (1 minute)</a:t>
            </a:r>
            <a:endParaRPr/>
          </a:p>
        </p:txBody>
      </p:sp>
      <p:pic>
        <p:nvPicPr>
          <p:cNvPr id="182" name="Google Shape;18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3025"/>
            <a:ext cx="9144003" cy="37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idx="4294967295" type="title"/>
          </p:nvPr>
        </p:nvSpPr>
        <p:spPr>
          <a:xfrm>
            <a:off x="457200" y="1340115"/>
            <a:ext cx="8229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</a:t>
            </a:r>
            <a:r>
              <a:rPr b="1" lang="en-US" sz="3200"/>
              <a:t>'all</a:t>
            </a:r>
            <a:r>
              <a:rPr b="1" lang="en-US" sz="3200"/>
              <a:t>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4,5,6,8,9</vt:lpwstr>
  </property>
</Properties>
</file>