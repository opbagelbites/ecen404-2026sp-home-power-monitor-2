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Helvetica Neue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XTR0xSI/GPJccmLH2PiKTbrqb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CDD326-9082-4151-B23A-9A126DCEB8B8}">
  <a:tblStyle styleId="{CDCDD326-9082-4151-B23A-9A126DCEB8B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Cloud server and database</a:t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8a61cb9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9" name="Google Shape;89;g398a61cb9c7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8a61cb9c7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8a61cb9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8a61cb9c7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98a61cb9c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04ba922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5" name="Google Shape;115;g3a04ba9220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eb154e112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9eb154e11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04ba9220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0" name="Google Shape;130;g3a04ba92201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04ba92201_1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a04ba92201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884e8e2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6" name="Google Shape;146;g39884e8e20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884e8e20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3" name="Google Shape;153;g39884e8e205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073468572_1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073468572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8a61cb9c7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8a61cb9c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09108796b_4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09108796b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5292777" y="2130426"/>
            <a:ext cx="5984823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4165601" y="3886200"/>
            <a:ext cx="7111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609600" y="1761067"/>
            <a:ext cx="10972800" cy="47336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LCOE_logo_HWHT.png" id="20" name="Google Shape;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00850"/>
            <a:ext cx="3236655" cy="5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1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1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6197600" y="1761067"/>
            <a:ext cx="5384800" cy="47336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" name="Google Shape;27;p12"/>
          <p:cNvSpPr txBox="1"/>
          <p:nvPr>
            <p:ph idx="2" type="body"/>
          </p:nvPr>
        </p:nvSpPr>
        <p:spPr>
          <a:xfrm>
            <a:off x="609600" y="1761067"/>
            <a:ext cx="5384800" cy="47336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609600" y="290064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609601" y="1066969"/>
            <a:ext cx="4011084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4766733" y="1073721"/>
            <a:ext cx="6815667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609601" y="1803850"/>
            <a:ext cx="4011084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609600" y="1196430"/>
            <a:ext cx="3431563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15"/>
          <p:cNvSpPr/>
          <p:nvPr>
            <p:ph idx="2" type="pic"/>
          </p:nvPr>
        </p:nvSpPr>
        <p:spPr>
          <a:xfrm>
            <a:off x="4267200" y="1196431"/>
            <a:ext cx="7315200" cy="5298252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609600" y="1768044"/>
            <a:ext cx="3431563" cy="4726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7576372" y="2130426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ECEN 403</a:t>
            </a:r>
            <a:br>
              <a:rPr lang="en-US"/>
            </a:br>
            <a:r>
              <a:rPr lang="en-US"/>
              <a:t>Status Update</a:t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1655" y="796285"/>
            <a:ext cx="3093334" cy="52561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5528734" y="3886200"/>
            <a:ext cx="653625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-US"/>
              <a:t>Team Number: Home Power Monitor 2 </a:t>
            </a:r>
            <a:br>
              <a:rPr lang="en-US"/>
            </a:br>
            <a:r>
              <a:rPr lang="en-US">
                <a:solidFill>
                  <a:schemeClr val="lt1"/>
                </a:solidFill>
              </a:rPr>
              <a:t>Kim, Caiden, Josh, Vivek, Lawson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-US"/>
              <a:t>TA: Vishwam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Project Summary </a:t>
            </a:r>
            <a:endParaRPr sz="3200"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800100" y="2012232"/>
            <a:ext cx="6540600" cy="4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400"/>
              <a:t>Problem: </a:t>
            </a:r>
            <a:endParaRPr sz="1400"/>
          </a:p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Homeowners can only see their total electricity usage from utility meters, not what individual appliances are consuming.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Without device-level data, it's difficult for people to identify the main sources of energy waste and find effective ways to lower their utility bills.</a:t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400"/>
              <a:t>Solution:</a:t>
            </a:r>
            <a:endParaRPr sz="1400"/>
          </a:p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Analyzing the home's main power lines to identify the unique electrical signature of each active appliance in real-time.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Displaying a simple, device-by-device breakdown of energy consumption on a mobile app, empowering users to reduce waste and save money</a:t>
            </a:r>
            <a:endParaRPr sz="1400"/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4" name="Google Shape;6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700" y="2012225"/>
            <a:ext cx="4241700" cy="3783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/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Overview </a:t>
            </a:r>
            <a:endParaRPr/>
          </a:p>
        </p:txBody>
      </p:sp>
      <p:pic>
        <p:nvPicPr>
          <p:cNvPr id="70" name="Google Shape;70;p3" title="Home Power Monitor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06175"/>
            <a:ext cx="12192000" cy="423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Google Shape;75;p4"/>
          <p:cNvGraphicFramePr/>
          <p:nvPr/>
        </p:nvGraphicFramePr>
        <p:xfrm>
          <a:off x="609600" y="1788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{CDCDD326-9082-4151-B23A-9A126DCEB8B8}</a:tableStyleId>
              </a:tblPr>
              <a:tblGrid>
                <a:gridCol w="6024875"/>
                <a:gridCol w="4947925"/>
              </a:tblGrid>
              <a:tr h="104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midterm update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~36 Hours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7994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Zeners, TVS, Resistors, Capacitors and CT clamps ordered.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Circuit simulation to ensure it has a clean output signal with a 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≤ 1.65 Vpk </a:t>
                      </a:r>
                      <a:endParaRPr sz="27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PCB designed and submitted for fabrication.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Soldering components to PCB and ensuring proper installation.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Testing and ensuring CT clamp is sensing current properly and PCB is outputting a clean and stable signal with a 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≤ 1.65 Vpk.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" name="Google Shape;76;p4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Sensor Front End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1800"/>
              <a:t>Kim Peteros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Sensor Front End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1800"/>
              <a:t>Kim Peteros</a:t>
            </a:r>
            <a:endParaRPr/>
          </a:p>
        </p:txBody>
      </p:sp>
      <p:pic>
        <p:nvPicPr>
          <p:cNvPr id="82" name="Google Shape;8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8300" y="4023525"/>
            <a:ext cx="2121118" cy="2834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0600" y="1772588"/>
            <a:ext cx="6008824" cy="218437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 txBox="1"/>
          <p:nvPr/>
        </p:nvSpPr>
        <p:spPr>
          <a:xfrm>
            <a:off x="557175" y="1772588"/>
            <a:ext cx="4581000" cy="20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Multisim: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Multisim simulation using a 1:2500 transformer and exact model components.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Current source was set to 200A to simulate a full load on a main breaker line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Output signal was a clean and stable and has a </a:t>
            </a:r>
            <a:r>
              <a:rPr lang="en-US">
                <a:solidFill>
                  <a:schemeClr val="dk1"/>
                </a:solidFill>
              </a:rPr>
              <a:t>≤ 1.65 Vpk.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5" name="Google Shape;85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0600" y="4023525"/>
            <a:ext cx="3759767" cy="28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 txBox="1"/>
          <p:nvPr/>
        </p:nvSpPr>
        <p:spPr>
          <a:xfrm>
            <a:off x="583425" y="4236300"/>
            <a:ext cx="4528500" cy="26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Altium: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2 circuits to allow for use of 2 </a:t>
            </a:r>
            <a:r>
              <a:rPr lang="en-US">
                <a:solidFill>
                  <a:schemeClr val="dk1"/>
                </a:solidFill>
              </a:rPr>
              <a:t>separate</a:t>
            </a:r>
            <a:r>
              <a:rPr lang="en-US">
                <a:solidFill>
                  <a:schemeClr val="dk1"/>
                </a:solidFill>
              </a:rPr>
              <a:t> CT clamps.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Terminal blocks were added to allow for safe mounting of CT leads.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Compact design to lower costs and noise.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g398a61cb9c7_0_6"/>
          <p:cNvGraphicFramePr/>
          <p:nvPr/>
        </p:nvGraphicFramePr>
        <p:xfrm>
          <a:off x="609600" y="1788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{CDCDD326-9082-4151-B23A-9A126DCEB8B8}</a:tableStyleId>
              </a:tblPr>
              <a:tblGrid>
                <a:gridCol w="6024875"/>
                <a:gridCol w="4947925"/>
              </a:tblGrid>
              <a:tr h="104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midterm update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~28 Hours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7994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Completed full testing on multisim of my schematic to verify correct operation of all three stages: biasing, buffering, and filtering. Producing a clean centered 0–3.3 V waveform.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Transferred validated schematic design into Altium Designer and found exact parts to fit my design and ordered the parts on digikey.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Completed PCB layout and routing.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Generated Gerber files and placed the PCB order for fabrication.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Awaiting arrival of manufactured PCB for assembly and soldering of components.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Plan to test the physical PCB to confirm </a:t>
                      </a:r>
                      <a:r>
                        <a:rPr lang="en-US" sz="1800"/>
                        <a:t>proper biasing voltage, op-amp behavior,</a:t>
                      </a:r>
                      <a:r>
                        <a:rPr lang="en-US" sz="1800"/>
                        <a:t> and filter performance. 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" name="Google Shape;92;g398a61cb9c7_0_6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Signal Conditioning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/>
              <a:t>Lawson Parr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8a61cb9c7_0_21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Signal Conditioning - Multisim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1800"/>
              <a:t>Lawson Parr</a:t>
            </a:r>
            <a:endParaRPr/>
          </a:p>
        </p:txBody>
      </p:sp>
      <p:sp>
        <p:nvSpPr>
          <p:cNvPr id="98" name="Google Shape;98;g398a61cb9c7_0_21"/>
          <p:cNvSpPr txBox="1"/>
          <p:nvPr/>
        </p:nvSpPr>
        <p:spPr>
          <a:xfrm>
            <a:off x="557175" y="1772591"/>
            <a:ext cx="10287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9" name="Google Shape;99;g398a61cb9c7_0_21"/>
          <p:cNvPicPr preferRelativeResize="0"/>
          <p:nvPr/>
        </p:nvPicPr>
        <p:blipFill rotWithShape="1">
          <a:blip r:embed="rId3">
            <a:alphaModFix/>
          </a:blip>
          <a:srcRect b="0" l="0" r="21500" t="4187"/>
          <a:stretch/>
        </p:blipFill>
        <p:spPr>
          <a:xfrm>
            <a:off x="6423250" y="2831975"/>
            <a:ext cx="5359674" cy="290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98a61cb9c7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800" y="2831981"/>
            <a:ext cx="5706875" cy="296109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98a61cb9c7_0_21"/>
          <p:cNvSpPr txBox="1"/>
          <p:nvPr/>
        </p:nvSpPr>
        <p:spPr>
          <a:xfrm>
            <a:off x="302675" y="2169200"/>
            <a:ext cx="570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Schematic</a:t>
            </a:r>
            <a:r>
              <a:rPr lang="en-US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02" name="Google Shape;102;g398a61cb9c7_0_21"/>
          <p:cNvSpPr txBox="1"/>
          <p:nvPr/>
        </p:nvSpPr>
        <p:spPr>
          <a:xfrm>
            <a:off x="6423186" y="2169200"/>
            <a:ext cx="535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Waveform 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8a61cb9c7_0_39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Signal Conditioning - Altium PCB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1800"/>
              <a:t>Lawson Parr</a:t>
            </a:r>
            <a:endParaRPr/>
          </a:p>
        </p:txBody>
      </p:sp>
      <p:sp>
        <p:nvSpPr>
          <p:cNvPr id="108" name="Google Shape;108;g398a61cb9c7_0_39"/>
          <p:cNvSpPr txBox="1"/>
          <p:nvPr/>
        </p:nvSpPr>
        <p:spPr>
          <a:xfrm>
            <a:off x="557175" y="1772591"/>
            <a:ext cx="10287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9" name="Google Shape;109;g398a61cb9c7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5000" y="2725950"/>
            <a:ext cx="5496275" cy="301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98a61cb9c7_0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275" y="2725950"/>
            <a:ext cx="5553624" cy="30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98a61cb9c7_0_39"/>
          <p:cNvSpPr txBox="1"/>
          <p:nvPr/>
        </p:nvSpPr>
        <p:spPr>
          <a:xfrm>
            <a:off x="279288" y="2171850"/>
            <a:ext cx="555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Schematic </a:t>
            </a:r>
            <a:endParaRPr/>
          </a:p>
        </p:txBody>
      </p:sp>
      <p:sp>
        <p:nvSpPr>
          <p:cNvPr id="112" name="Google Shape;112;g398a61cb9c7_0_39"/>
          <p:cNvSpPr txBox="1"/>
          <p:nvPr/>
        </p:nvSpPr>
        <p:spPr>
          <a:xfrm>
            <a:off x="6424988" y="2171850"/>
            <a:ext cx="549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PCB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g3a04ba92201_0_0"/>
          <p:cNvGraphicFramePr/>
          <p:nvPr/>
        </p:nvGraphicFramePr>
        <p:xfrm>
          <a:off x="609600" y="1788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{CDCDD326-9082-4151-B23A-9A126DCEB8B8}</a:tableStyleId>
              </a:tblPr>
              <a:tblGrid>
                <a:gridCol w="6024875"/>
                <a:gridCol w="4947925"/>
              </a:tblGrid>
              <a:tr h="104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midterm update                         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~33 Hours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799425"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Successfully ported Python simulation logic to C++ on the ESP32.</a:t>
                      </a:r>
                      <a:br>
                        <a:rPr lang="en-US" sz="1800"/>
                      </a:b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Built complete signal generation and DSP pipeline (RMS, real power, PF, THD, harmonics).</a:t>
                      </a:r>
                      <a:br>
                        <a:rPr lang="en-US" sz="1800"/>
                      </a:b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Implemented JSON telemetry output running live on the ESP32 serial interface.</a:t>
                      </a:r>
                      <a:br>
                        <a:rPr lang="en-US" sz="1800"/>
                      </a:b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Verified frame structure and mathematical correctness of power calculations against simulation results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Implement Wi-Fi connectivity and firebase telemetry to publish frames to the app backend.</a:t>
                      </a:r>
                      <a:br>
                        <a:rPr lang="en-US" sz="1800"/>
                      </a:b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Add state-change event tracking (ON/OFF transitions) to telemetry stream.</a:t>
                      </a:r>
                      <a:br>
                        <a:rPr lang="en-US" sz="1800"/>
                      </a:b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Collaborate with app subsystem to verify JSON schema parsing and visualization.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" name="Google Shape;118;g3a04ba92201_0_0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Embedded Systems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1800"/>
              <a:t>Caiden Rueben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eb154e112_0_22"/>
          <p:cNvSpPr txBox="1"/>
          <p:nvPr>
            <p:ph idx="1" type="body"/>
          </p:nvPr>
        </p:nvSpPr>
        <p:spPr>
          <a:xfrm>
            <a:off x="609600" y="2002325"/>
            <a:ext cx="5562600" cy="29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Designed:</a:t>
            </a:r>
            <a:r>
              <a:rPr lang="en-US" sz="1400"/>
              <a:t> Embedded firmware architecture replicating Python DSP sandbox (RMS, PF, THD, harmonics).</a:t>
            </a:r>
            <a:br>
              <a:rPr lang="en-US" sz="1400"/>
            </a:b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Built:</a:t>
            </a:r>
            <a:r>
              <a:rPr lang="en-US" sz="1400"/>
              <a:t> Fully functional C++ implementation running on ESP32; validated output consistency.</a:t>
            </a:r>
            <a:br>
              <a:rPr lang="en-US" sz="1400"/>
            </a:b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Tested:</a:t>
            </a:r>
            <a:r>
              <a:rPr lang="en-US" sz="1400"/>
              <a:t> Confirmed accurate power calculations and periodic telemetry frame generation; stable operation over continuous runtime.</a:t>
            </a:r>
            <a:br>
              <a:rPr lang="en-US" sz="1400"/>
            </a:b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Next:</a:t>
            </a:r>
            <a:r>
              <a:rPr lang="en-US" sz="1400"/>
              <a:t> Wireless telemetry transmission, NTP timestamping, and integration with application layer.</a:t>
            </a:r>
            <a:endParaRPr sz="1400"/>
          </a:p>
        </p:txBody>
      </p:sp>
      <p:sp>
        <p:nvSpPr>
          <p:cNvPr id="124" name="Google Shape;124;g39eb154e112_0_22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Embedded Systems</a:t>
            </a:r>
            <a:br>
              <a:rPr lang="en-US"/>
            </a:br>
            <a:r>
              <a:rPr lang="en-US" sz="1800"/>
              <a:t>Caiden Rueben</a:t>
            </a:r>
            <a:endParaRPr sz="3200"/>
          </a:p>
        </p:txBody>
      </p:sp>
      <p:pic>
        <p:nvPicPr>
          <p:cNvPr id="125" name="Google Shape;125;g39eb154e112_0_22" title="IMG_4415.jpg"/>
          <p:cNvPicPr preferRelativeResize="0"/>
          <p:nvPr/>
        </p:nvPicPr>
        <p:blipFill rotWithShape="1">
          <a:blip r:embed="rId3">
            <a:alphaModFix/>
          </a:blip>
          <a:srcRect b="10854" l="17011" r="20675" t="48121"/>
          <a:stretch/>
        </p:blipFill>
        <p:spPr>
          <a:xfrm rot="-5400000">
            <a:off x="8869662" y="1858389"/>
            <a:ext cx="3185399" cy="288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9eb154e112_0_22" title="IMG_4416.jpg"/>
          <p:cNvPicPr preferRelativeResize="0"/>
          <p:nvPr/>
        </p:nvPicPr>
        <p:blipFill rotWithShape="1">
          <a:blip r:embed="rId4">
            <a:alphaModFix/>
          </a:blip>
          <a:srcRect b="34356" l="0" r="0" t="41639"/>
          <a:stretch/>
        </p:blipFill>
        <p:spPr>
          <a:xfrm>
            <a:off x="609600" y="4944600"/>
            <a:ext cx="11293251" cy="1503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9eb154e112_0_22"/>
          <p:cNvSpPr txBox="1"/>
          <p:nvPr/>
        </p:nvSpPr>
        <p:spPr>
          <a:xfrm>
            <a:off x="2101250" y="6447725"/>
            <a:ext cx="80010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chemeClr val="dk1"/>
                </a:solidFill>
              </a:rPr>
              <a:t>Firmware running simulated voltage/current telemetry for Home Power Monitor prototype.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132;g3a04ba92201_1_0"/>
          <p:cNvGraphicFramePr/>
          <p:nvPr/>
        </p:nvGraphicFramePr>
        <p:xfrm>
          <a:off x="609600" y="1788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{CDCDD326-9082-4151-B23A-9A126DCEB8B8}</a:tableStyleId>
              </a:tblPr>
              <a:tblGrid>
                <a:gridCol w="6024875"/>
                <a:gridCol w="4947925"/>
              </a:tblGrid>
              <a:tr h="104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midterm update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~32 Hours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799425">
                <a:tc>
                  <a:txBody>
                    <a:bodyPr/>
                    <a:lstStyle/>
                    <a:p>
                      <a:pPr indent="-33020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Char char="•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Processed the high-frequency PLAID dataset to engineer a 10-feature "fingerprint" for 1,074 unique appliance events.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3020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Char char="•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tuned Random Forest via RandomizedSearchCV; hold-out results Acc ≈ 0.98; saved artifacts (classification_report.json).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3020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Char char="•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Packaged the final, tuned model into a lightweight, production-ready Flask API and containerized it with Docker.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Deploying the containerized model API to a live cloud environment 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Testing and debugging the end-to-end data pipeline by integrating the live API with the hardware and the Flutter app to ensure the JSON formats match and predictions are displayed correctly. 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Designing the /feedback API endpoint and database logic to allow the app to send back user-corrected labels, which will be used for future model retraining.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g3a04ba92201_1_0"/>
          <p:cNvSpPr txBox="1"/>
          <p:nvPr/>
        </p:nvSpPr>
        <p:spPr>
          <a:xfrm>
            <a:off x="609600" y="5718305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4" name="Google Shape;134;g3a04ba92201_1_0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Machine Learning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1800"/>
              <a:t>Joshua Le</a:t>
            </a:r>
            <a:endParaRPr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04ba92201_1_7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Machine Learning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1800"/>
              <a:t>Joshua Le</a:t>
            </a:r>
            <a:endParaRPr/>
          </a:p>
        </p:txBody>
      </p:sp>
      <p:sp>
        <p:nvSpPr>
          <p:cNvPr id="140" name="Google Shape;140;g3a04ba92201_1_7"/>
          <p:cNvSpPr txBox="1"/>
          <p:nvPr/>
        </p:nvSpPr>
        <p:spPr>
          <a:xfrm>
            <a:off x="557175" y="1772588"/>
            <a:ext cx="4581000" cy="20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g3a04ba92201_1_7"/>
          <p:cNvSpPr txBox="1"/>
          <p:nvPr/>
        </p:nvSpPr>
        <p:spPr>
          <a:xfrm>
            <a:off x="583425" y="4236300"/>
            <a:ext cx="4528500" cy="26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2" name="Google Shape;142;g3a04ba92201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3000" y="1772592"/>
            <a:ext cx="6058793" cy="4847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a04ba92201_1_7" title="Screenshot 2025-11-04 at 11.21.3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850" y="2477525"/>
            <a:ext cx="5372150" cy="2793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g39884e8e205_0_0"/>
          <p:cNvGraphicFramePr/>
          <p:nvPr/>
        </p:nvGraphicFramePr>
        <p:xfrm>
          <a:off x="609600" y="1788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{CDCDD326-9082-4151-B23A-9A126DCEB8B8}</a:tableStyleId>
              </a:tblPr>
              <a:tblGrid>
                <a:gridCol w="6024875"/>
                <a:gridCol w="4947925"/>
              </a:tblGrid>
              <a:tr h="104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midterm update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25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7994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Built a live data pipeline connecting the Flutter app to a real-time Firebase database.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Created a 3-tab app that displays live-updating power, historical charts, and appliance status.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Developed a hardware simulator that mimics both DSP and ML subsystems to feed the cloud.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Complete the 'Appliances' tab by connecting it to the simulated ML data feed.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Implement cost analysis: users will input their price-per-kWh to see energy costs.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Begin designing user authentication and secure, per-user data architecture for the final product.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" name="Google Shape;149;g39884e8e205_0_0"/>
          <p:cNvSpPr txBox="1"/>
          <p:nvPr/>
        </p:nvSpPr>
        <p:spPr>
          <a:xfrm>
            <a:off x="609600" y="5718305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0" name="Google Shape;150;g39884e8e205_0_0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App Development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1800"/>
              <a:t>Vivek Samuel</a:t>
            </a:r>
            <a:endParaRPr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884e8e205_0_19"/>
          <p:cNvSpPr txBox="1"/>
          <p:nvPr/>
        </p:nvSpPr>
        <p:spPr>
          <a:xfrm>
            <a:off x="609600" y="5718305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6" name="Google Shape;156;g39884e8e205_0_19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App Development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1800"/>
              <a:t>Vivek Samuel</a:t>
            </a:r>
            <a:endParaRPr sz="3200"/>
          </a:p>
        </p:txBody>
      </p:sp>
      <p:pic>
        <p:nvPicPr>
          <p:cNvPr id="157" name="Google Shape;157;g39884e8e205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50" y="4545025"/>
            <a:ext cx="3480974" cy="2158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9884e8e205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7150" y="1632850"/>
            <a:ext cx="3945634" cy="283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9884e8e205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6900" y="1706175"/>
            <a:ext cx="3632551" cy="283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9884e8e205_0_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4725" y="4545025"/>
            <a:ext cx="3216900" cy="215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9884e8e205_0_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05000" y="4545025"/>
            <a:ext cx="3169520" cy="215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9884e8e205_0_19"/>
          <p:cNvSpPr txBox="1"/>
          <p:nvPr/>
        </p:nvSpPr>
        <p:spPr>
          <a:xfrm>
            <a:off x="398200" y="1637075"/>
            <a:ext cx="3628200" cy="26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Designed:</a:t>
            </a:r>
            <a:r>
              <a:rPr lang="en-US" sz="1600">
                <a:solidFill>
                  <a:schemeClr val="dk1"/>
                </a:solidFill>
              </a:rPr>
              <a:t> A decoupled architecture using Firebase as the central, real-time data hub.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Built:</a:t>
            </a:r>
            <a:r>
              <a:rPr lang="en-US" sz="1600">
                <a:solidFill>
                  <a:schemeClr val="dk1"/>
                </a:solidFill>
              </a:rPr>
              <a:t> A 3-tab Flutter app and a parallel hardware simulator to populate the cloud database.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Tested:</a:t>
            </a:r>
            <a:r>
              <a:rPr lang="en-US" sz="1600">
                <a:solidFill>
                  <a:schemeClr val="dk1"/>
                </a:solidFill>
              </a:rPr>
              <a:t> Verified the complete end-to-end pipeline: Simulator (write) -&gt; Cloud (update) -&gt; App UI (display).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073468572_1_16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Execution</a:t>
            </a:r>
            <a:endParaRPr/>
          </a:p>
        </p:txBody>
      </p:sp>
      <p:pic>
        <p:nvPicPr>
          <p:cNvPr id="168" name="Google Shape;168;g3a073468572_1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575" y="1744929"/>
            <a:ext cx="10530839" cy="4710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8a61cb9c7_0_57"/>
          <p:cNvSpPr txBox="1"/>
          <p:nvPr>
            <p:ph type="title"/>
          </p:nvPr>
        </p:nvSpPr>
        <p:spPr>
          <a:xfrm>
            <a:off x="609588" y="529167"/>
            <a:ext cx="10972800" cy="85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Project Validation</a:t>
            </a:r>
            <a:endParaRPr/>
          </a:p>
        </p:txBody>
      </p:sp>
      <p:pic>
        <p:nvPicPr>
          <p:cNvPr id="174" name="Google Shape;174;g398a61cb9c7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525" y="1388675"/>
            <a:ext cx="7576949" cy="516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09108796b_4_12"/>
          <p:cNvSpPr txBox="1"/>
          <p:nvPr>
            <p:ph type="title"/>
          </p:nvPr>
        </p:nvSpPr>
        <p:spPr>
          <a:xfrm>
            <a:off x="609600" y="846715"/>
            <a:ext cx="10972800" cy="51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 for your time</a:t>
            </a:r>
            <a:r>
              <a:rPr lang="en-US"/>
              <a:t>, we will be opening the </a:t>
            </a:r>
            <a:r>
              <a:rPr lang="en-US"/>
              <a:t>floor</a:t>
            </a:r>
            <a:r>
              <a:rPr lang="en-US"/>
              <a:t> for questions!</a:t>
            </a:r>
            <a:endParaRPr/>
          </a:p>
        </p:txBody>
      </p:sp>
      <p:sp>
        <p:nvSpPr>
          <p:cNvPr id="180" name="Google Shape;180;g3a09108796b_4_12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Nowka, Kevin J.</dc:creator>
</cp:coreProperties>
</file>